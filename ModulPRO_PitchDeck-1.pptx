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5143500"/>
          </a:xfrm>
          <a:prstGeom prst="rect">
            <a:avLst/>
          </a:prstGeom>
          <a:solidFill>
            <a:srgbClr val="07080C"/>
          </a:solidFill>
          <a:ln w="12700">
            <a:solidFill>
              <a:srgbClr val="0708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F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7315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03A50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777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</a:t>
            </a:r>
            <a:pPr indent="0" marL="0">
              <a:buNone/>
            </a:pPr>
            <a:r>
              <a:rPr lang="en-US" sz="2800" b="1" spc="400" kern="0" dirty="0">
                <a:solidFill>
                  <a:srgbClr val="4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1371600" y="1417320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003A50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1417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R4.0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17373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Koniec liczenia</a:t>
            </a:r>
            <a:endParaRPr lang="en-US" sz="5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 kartce.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548640" y="3429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Konfigurator mebli modułowych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dla polskich stolarzy i producentów mebli.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1325880" cy="64008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343400"/>
            <a:ext cx="1325880" cy="27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389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8640" y="47091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BOM gotowy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11680" y="4343400"/>
            <a:ext cx="1325880" cy="64008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0" y="4343400"/>
            <a:ext cx="1325880" cy="27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4389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011680" y="47091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auto-logik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74720" y="4343400"/>
            <a:ext cx="1325880" cy="64008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4343400"/>
            <a:ext cx="1325880" cy="27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4389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474720" y="47091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PWA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37760" y="4343400"/>
            <a:ext cx="1325880" cy="64008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4343400"/>
            <a:ext cx="1325880" cy="27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4389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0zł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937760" y="47091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365760"/>
            <a:ext cx="2560320" cy="4572000"/>
          </a:xfrm>
          <a:prstGeom prst="roundRect">
            <a:avLst>
              <a:gd name="adj" fmla="val 10714"/>
            </a:avLst>
          </a:prstGeom>
          <a:solidFill>
            <a:srgbClr val="0F1118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55080" y="502920"/>
            <a:ext cx="2286000" cy="4297680"/>
          </a:xfrm>
          <a:prstGeom prst="roundRect">
            <a:avLst>
              <a:gd name="adj" fmla="val 8000"/>
            </a:avLst>
          </a:prstGeom>
          <a:solidFill>
            <a:srgbClr val="07080C"/>
          </a:solidFill>
          <a:ln w="6350">
            <a:solidFill>
              <a:srgbClr val="1C20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502920"/>
            <a:ext cx="2286000" cy="457200"/>
          </a:xfrm>
          <a:prstGeom prst="rect">
            <a:avLst/>
          </a:prstGeom>
          <a:solidFill>
            <a:srgbClr val="141720"/>
          </a:solidFill>
          <a:ln w="12700">
            <a:solidFill>
              <a:srgbClr val="1417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2512" y="521208"/>
            <a:ext cx="2231136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ModulPRO  R4.0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446520" y="1078992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11155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⚙  KONFIGURATOR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473952" y="1389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 szafy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406640" y="1389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0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Dolna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473952" y="16184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Szerokość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406640" y="16184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 mm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473952" y="1847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Prowadnice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406640" y="1847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mm ✓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473952" y="20756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Zawiasy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406640" y="20756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szt ✓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473952" y="2331720"/>
            <a:ext cx="2048256" cy="292608"/>
          </a:xfrm>
          <a:prstGeom prst="roundRect">
            <a:avLst>
              <a:gd name="adj" fmla="val 18750"/>
            </a:avLst>
          </a:prstGeom>
          <a:solidFill>
            <a:srgbClr val="003A50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73952" y="233172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DODAJ SZAFKĘ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46520" y="274320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003A50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73952" y="277977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📷  SCAN Cabinet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473952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dobiera szafki automatycznie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355080" y="4480560"/>
            <a:ext cx="2286000" cy="320040"/>
          </a:xfrm>
          <a:prstGeom prst="rect">
            <a:avLst/>
          </a:prstGeom>
          <a:solidFill>
            <a:srgbClr val="141720"/>
          </a:solidFill>
          <a:ln w="12700">
            <a:solidFill>
              <a:srgbClr val="14172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03720" y="4480560"/>
            <a:ext cx="640080" cy="27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0" y="4507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🏠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949440" y="4507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📁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498080" y="4507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⚙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046720" y="4507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D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Jak pracuje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dziś stolarz?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023360" cy="118872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36576" cy="1188720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Kartka i kalkulator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Każda szafka liczona ręcznie. Błędy, poprawki, czas stracony.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2011680"/>
            <a:ext cx="4023360" cy="118872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011680"/>
            <a:ext cx="36576" cy="1188720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2356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od lat 90.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Tabele bez auto-logiki. Prowadnice Blum — musisz pamiętać tabelki.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4023360" cy="118872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83280"/>
            <a:ext cx="36576" cy="1188720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Pomiar → biuro → klient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Wraca do biura, liczy, dzwoni. Klient czeka 2-3 dni na propozycję.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4023360" cy="118872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383280"/>
            <a:ext cx="36576" cy="1188720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Błędy kosztują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Zła długość prowadnicy. Za mało zawiasów. Reklamacje.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200810"/>
          </a:solidFill>
          <a:ln w="6350">
            <a:solidFill>
              <a:srgbClr val="FF3D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D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  Stolarz traci średnio 2-3 godziny dziennie na obliczenia i poprawki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ROZWIĄZANIE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ModulPRO —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konfigurator w kieszeni.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97480" cy="1261872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03120"/>
            <a:ext cx="269748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1284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212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Konfigurator szafek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6334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Wybierz typ → wymiary → gotowy BOM. 30 sekund.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3108960"/>
            <a:ext cx="2468880" cy="201168"/>
          </a:xfrm>
          <a:prstGeom prst="roundRect">
            <a:avLst>
              <a:gd name="adj" fmla="val 22727"/>
            </a:avLst>
          </a:prstGeom>
          <a:solidFill>
            <a:srgbClr val="003A5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108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BLUM · GRASS · HETTICH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337560" y="2103120"/>
            <a:ext cx="2697480" cy="1261872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2103120"/>
            <a:ext cx="269748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221284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1920" y="2212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 Cabinet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47288" y="26334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Telefonem mierzysz ścianę. AI proponuje zabudowę.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47288" y="3108960"/>
            <a:ext cx="2468880" cy="201168"/>
          </a:xfrm>
          <a:prstGeom prst="roundRect">
            <a:avLst>
              <a:gd name="adj" fmla="val 22727"/>
            </a:avLst>
          </a:prstGeom>
          <a:solidFill>
            <a:srgbClr val="003A5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3108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· UNIKALNY NA RYNKU PL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217920" y="2103120"/>
            <a:ext cx="2697480" cy="1261872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103120"/>
            <a:ext cx="269748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221284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12280" y="2212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Auto-kuchnia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26334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Podaj A×B ściany → gotowa kuchnia modułowa.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27648" y="3108960"/>
            <a:ext cx="2468880" cy="201168"/>
          </a:xfrm>
          <a:prstGeom prst="roundRect">
            <a:avLst>
              <a:gd name="adj" fmla="val 22727"/>
            </a:avLst>
          </a:prstGeom>
          <a:solidFill>
            <a:srgbClr val="003A5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3108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· AUTOMATYCZNY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2697480" cy="1261872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520440"/>
            <a:ext cx="269748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63016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1560" y="3630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 PWA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40507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Działa bez internetu. Instalujesz jak normalną apkę.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" y="4526280"/>
            <a:ext cx="2468880" cy="201168"/>
          </a:xfrm>
          <a:prstGeom prst="roundRect">
            <a:avLst>
              <a:gd name="adj" fmla="val 22727"/>
            </a:avLst>
          </a:prstGeom>
          <a:solidFill>
            <a:srgbClr val="003A5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5262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· iOS · DESKTOP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337560" y="3520440"/>
            <a:ext cx="2697480" cy="1261872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37560" y="3520440"/>
            <a:ext cx="269748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47288" y="363016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🖨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931920" y="3630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Export BOM/CNC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47288" y="40507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CSV, PDF, JSON. Gotowe do cięcia na CNC.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47288" y="4526280"/>
            <a:ext cx="2468880" cy="201168"/>
          </a:xfrm>
          <a:prstGeom prst="roundRect">
            <a:avLst>
              <a:gd name="adj" fmla="val 22727"/>
            </a:avLst>
          </a:prstGeom>
          <a:solidFill>
            <a:srgbClr val="003A5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47288" y="45262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CNC · KOSZTORYS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217920" y="3520440"/>
            <a:ext cx="2697480" cy="1261872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3520440"/>
            <a:ext cx="269748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363016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812280" y="3630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 auto-logik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27648" y="40507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Prowadnice, zawiasy, nóżki — automatycznie.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27648" y="4526280"/>
            <a:ext cx="2468880" cy="201168"/>
          </a:xfrm>
          <a:prstGeom prst="roundRect">
            <a:avLst>
              <a:gd name="adj" fmla="val 22727"/>
            </a:avLst>
          </a:prstGeom>
          <a:solidFill>
            <a:srgbClr val="003A5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45262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STANDARDY PL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RYNEK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Polska · 15 000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meblowych firm.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97480" cy="2651760"/>
          </a:xfrm>
          <a:prstGeom prst="rect">
            <a:avLst/>
          </a:prstGeom>
          <a:solidFill>
            <a:srgbClr val="1A30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269748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Rynek globalny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2.4B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4360" y="36393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EUR/rok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977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Producenci mebli modułowych na świecie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2103120"/>
            <a:ext cx="2697480" cy="2651760"/>
          </a:xfrm>
          <a:prstGeom prst="rect">
            <a:avLst/>
          </a:prstGeom>
          <a:solidFill>
            <a:srgbClr val="1A2A40"/>
          </a:solidFill>
          <a:ln w="12700">
            <a:solidFill>
              <a:srgbClr val="40D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2103120"/>
            <a:ext cx="2697480" cy="45720"/>
          </a:xfrm>
          <a:prstGeom prst="rect">
            <a:avLst/>
          </a:prstGeom>
          <a:solidFill>
            <a:srgbClr val="40D8FF"/>
          </a:solidFill>
          <a:ln w="12700">
            <a:solidFill>
              <a:srgbClr val="40D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Rynek Europy Środkowej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3017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180M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474720" y="36393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0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EUR/rok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977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Polska, Czechy, Słowacja, Ukraina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2103120"/>
            <a:ext cx="2697480" cy="2651760"/>
          </a:xfrm>
          <a:prstGeom prst="rect">
            <a:avLst/>
          </a:prstGeom>
          <a:solidFill>
            <a:srgbClr val="003A5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103120"/>
            <a:ext cx="269748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5508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Dostępny rynek PL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3017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12M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355080" y="36393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EUR/rok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3977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~5000 firm · 19zł/mies. · rok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003A1A"/>
          </a:solidFill>
          <a:ln w="6350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💡  Pro100 (dominujący gracz) nie ma wersji mobilnej ani AI — luka do zagospodarowania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CENNIK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Prosty cennik.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Bez niespodzianek.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97480" cy="306324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2697480" cy="54864"/>
          </a:xfrm>
          <a:prstGeom prst="rect">
            <a:avLst/>
          </a:prstGeom>
          <a:solidFill>
            <a:srgbClr val="2A2F42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957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371600" y="2395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zawsze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Konfigurator szafek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BOM i lista detali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SCAN (5/mies.)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42062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PDF export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4480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F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 CSV/CNC export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7548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F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 Nieograniczone proj.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029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F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 Auto-kuchnia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37560" y="1920240"/>
            <a:ext cx="2697480" cy="3063240"/>
          </a:xfrm>
          <a:prstGeom prst="rect">
            <a:avLst/>
          </a:prstGeom>
          <a:solidFill>
            <a:srgbClr val="003A50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1920240"/>
            <a:ext cx="26974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4760" y="1783080"/>
            <a:ext cx="1783080" cy="228600"/>
          </a:xfrm>
          <a:prstGeom prst="roundRect">
            <a:avLst>
              <a:gd name="adj" fmla="val 40000"/>
            </a:avLst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70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NAJPOPULARNIEJSZY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474720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23957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251960" y="2395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0" y="3017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/miesiąc lub 149zł jednorazowo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0" y="3383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Wszystko ze Starter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3657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SCAN bez limitu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3931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CSV do CNC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0" y="42062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Auto-kuchnia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0" y="4480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Kosztorys z cenami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1920240"/>
            <a:ext cx="2697480" cy="3063240"/>
          </a:xfrm>
          <a:prstGeom prst="rect">
            <a:avLst/>
          </a:prstGeom>
          <a:solidFill>
            <a:srgbClr val="141720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1920240"/>
            <a:ext cx="26974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23957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</a:t>
            </a:r>
            <a:endParaRPr lang="en-US" sz="4600" dirty="0"/>
          </a:p>
        </p:txBody>
      </p:sp>
      <p:sp>
        <p:nvSpPr>
          <p:cNvPr id="35" name="Text 33"/>
          <p:cNvSpPr/>
          <p:nvPr/>
        </p:nvSpPr>
        <p:spPr>
          <a:xfrm>
            <a:off x="7132320" y="2395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zł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55080" y="3017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/miesiąc · do 5 użytkowników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55080" y="3383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Wszystko z Pro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55080" y="3657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5 kont pracowników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55080" y="3931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Wspólna baza proj.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42062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Logo firmy w BOM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55080" y="4480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Szkolenie i wdrożenie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Płatność przez Przelewy24 · Faktura VAT · Anulowanie w każdej chwili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 prototypu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 produktu.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8229600" cy="0"/>
          </a:xfrm>
          <a:prstGeom prst="line">
            <a:avLst/>
          </a:prstGeom>
          <a:noFill/>
          <a:ln w="12700">
            <a:solidFill>
              <a:srgbClr val="2A2F4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88720" y="2395728"/>
            <a:ext cx="237744" cy="237744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97480"/>
            <a:ext cx="2011680" cy="2286000"/>
          </a:xfrm>
          <a:prstGeom prst="rect">
            <a:avLst/>
          </a:prstGeom>
          <a:solidFill>
            <a:srgbClr val="14172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97480"/>
            <a:ext cx="201168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Teraz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Beta · 10 stolarzy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Darmowy dostęp dla testerów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Zbieranie feedbacku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Poprawki UX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4709160"/>
            <a:ext cx="1280160" cy="228600"/>
          </a:xfrm>
          <a:prstGeom prst="roundRect">
            <a:avLst>
              <a:gd name="adj" fmla="val 32000"/>
            </a:avLst>
          </a:prstGeom>
          <a:solidFill>
            <a:srgbClr val="003A1A"/>
          </a:solidFill>
          <a:ln w="6350">
            <a:solidFill>
              <a:srgbClr val="00E6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09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GOTOWE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37560" y="2395728"/>
            <a:ext cx="237744" cy="23774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06040" y="2697480"/>
            <a:ext cx="2011680" cy="228600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2697480"/>
            <a:ext cx="201168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Mies.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9748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 · 19 zł/mies.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Landing page PL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9748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Przelewy24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7480" y="3886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Grupy FB stolarzy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0" y="2395728"/>
            <a:ext cx="237744" cy="23774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697480"/>
            <a:ext cx="2011680" cy="228600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697480"/>
            <a:ext cx="201168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Mies. 3-6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Wzrost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Partnerzy (dostawcy płyt)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200+ użytkowników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886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Auto-kuchnia V2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35240" y="2395728"/>
            <a:ext cx="237744" cy="23774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2697480"/>
            <a:ext cx="2011680" cy="228600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03720" y="2697480"/>
            <a:ext cx="201168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Rok 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Ekspansja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9516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Rynek CZ/SK/UA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9516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Wersja firma (5 kont)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95160" y="3886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API dla producentów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4114800"/>
          </a:xfrm>
          <a:prstGeom prst="ellipse">
            <a:avLst/>
          </a:prstGeom>
          <a:solidFill>
            <a:srgbClr val="003A50">
              <a:alpha val="40000"/>
            </a:srgbClr>
          </a:solidFill>
          <a:ln w="12700">
            <a:solidFill>
              <a:srgbClr val="003A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Zacznij teraz.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Bezpłatny dostęp · Bez rejestracji · Offline PWA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2834640"/>
            <a:ext cx="4572000" cy="640080"/>
          </a:xfrm>
          <a:prstGeom prst="roundRect">
            <a:avLst>
              <a:gd name="adj" fmla="val 17143"/>
            </a:avLst>
          </a:prstGeom>
          <a:solidFill>
            <a:srgbClr val="003A50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2834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0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devill911-ship-it.github.io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Kontakt: kontakt@modulpro.pl  ·  WhatsApp: +48 xxx xxx xxx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4206240"/>
            <a:ext cx="2194560" cy="73152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233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4572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meblowych firm w PL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31920" y="4206240"/>
            <a:ext cx="2194560" cy="73152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4233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 zł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31920" y="4572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miesięcznie Pro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92240" y="4206240"/>
            <a:ext cx="2194560" cy="731520"/>
          </a:xfrm>
          <a:prstGeom prst="rect">
            <a:avLst/>
          </a:prstGeom>
          <a:solidFill>
            <a:srgbClr val="141720"/>
          </a:solidFill>
          <a:ln w="6350">
            <a:solidFill>
              <a:srgbClr val="2A2F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233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4572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BOM gotowy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ModulPRO — Pitch Deck</dc:title>
  <dc:subject>PptxGenJS Presentation</dc:subject>
  <dc:creator>ModulPRO</dc:creator>
  <cp:lastModifiedBy>ModulPRO</cp:lastModifiedBy>
  <cp:revision>1</cp:revision>
  <dcterms:created xsi:type="dcterms:W3CDTF">2026-03-15T07:49:05Z</dcterms:created>
  <dcterms:modified xsi:type="dcterms:W3CDTF">2026-03-15T07:49:05Z</dcterms:modified>
</cp:coreProperties>
</file>